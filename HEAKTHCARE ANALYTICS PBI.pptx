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8" r:id="rId4"/>
    <p:sldId id="258" r:id="rId5"/>
    <p:sldId id="279" r:id="rId6"/>
    <p:sldId id="265" r:id="rId7"/>
    <p:sldId id="280" r:id="rId8"/>
    <p:sldId id="277" r:id="rId9"/>
    <p:sldId id="281" r:id="rId10"/>
    <p:sldId id="260" r:id="rId11"/>
    <p:sldId id="282" r:id="rId12"/>
    <p:sldId id="259" r:id="rId13"/>
    <p:sldId id="283" r:id="rId14"/>
    <p:sldId id="261" r:id="rId15"/>
    <p:sldId id="284" r:id="rId16"/>
    <p:sldId id="262" r:id="rId17"/>
    <p:sldId id="285" r:id="rId18"/>
    <p:sldId id="263" r:id="rId19"/>
    <p:sldId id="286" r:id="rId20"/>
    <p:sldId id="264" r:id="rId21"/>
    <p:sldId id="287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3E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595" autoAdjust="0"/>
  </p:normalViewPr>
  <p:slideViewPr>
    <p:cSldViewPr snapToGrid="0">
      <p:cViewPr>
        <p:scale>
          <a:sx n="62" d="100"/>
          <a:sy n="62" d="100"/>
        </p:scale>
        <p:origin x="105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A06C9-65E5-4382-A522-40602616A82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57D6A-C2D1-4C4E-B6D5-95415F512D8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57D6A-C2D1-4C4E-B6D5-95415F512D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10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57D6A-C2D1-4C4E-B6D5-95415F512D83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33709"/>
            <a:ext cx="8824456" cy="1373070"/>
          </a:xfrm>
        </p:spPr>
        <p:txBody>
          <a:bodyPr/>
          <a:lstStyle/>
          <a:p>
            <a:r>
              <a:rPr lang="en-US" sz="4400" dirty="0"/>
              <a:t>HEALTHCARE ANALYTICS PROJECT</a:t>
            </a:r>
            <a:br>
              <a:rPr lang="en-US" dirty="0"/>
            </a:br>
            <a:r>
              <a:rPr lang="en-US" sz="2800" i="1" dirty="0"/>
              <a:t>Patient admission &amp; Billing datasets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KIBIDI K. LERENCER|      00/05/2026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Chuka University: Center For Data Analytics &amp; Modeling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 No:  CDAM/0047/2026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LEC CHANON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SECTION 1: EXECUTIVE SUMMARY &amp; KPIs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149642"/>
            <a:ext cx="10773742" cy="45559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1. What is the total billing amount across all patients?</a:t>
            </a:r>
            <a:r>
              <a:rPr lang="en-US" sz="2400" dirty="0">
                <a:solidFill>
                  <a:srgbClr val="99E472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1.33m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2. What is the average length of stay (</a:t>
            </a:r>
            <a:r>
              <a:rPr lang="en-US" sz="2400" dirty="0" err="1">
                <a:effectLst/>
                <a:latin typeface="Comic Sans MS" panose="030F0702030302020204" pitchFamily="66" charset="0"/>
              </a:rPr>
              <a:t>DaysSpent</a:t>
            </a:r>
            <a:r>
              <a:rPr lang="en-US" sz="2400" dirty="0">
                <a:effectLst/>
                <a:latin typeface="Comic Sans MS" panose="030F0702030302020204" pitchFamily="66" charset="0"/>
              </a:rPr>
              <a:t>) per patient? 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4 days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3. What is the overall payment collection rate?</a:t>
            </a:r>
            <a:r>
              <a:rPr lang="en-US" sz="24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(Paid-44%, Pending-29% &amp; Denied-27%)</a:t>
            </a:r>
            <a:r>
              <a:rPr lang="en-US" sz="2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 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4. How many total patient admissions are in the dataset?</a:t>
            </a:r>
            <a:r>
              <a:rPr lang="en-US" sz="24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151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5. What is the average cost per patient? (Total Billing / Total Patients) 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8,810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6. What is the average out-of-pocket expense per patient? 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1,110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7. What percentage of bills are currently denied?</a:t>
            </a:r>
            <a:r>
              <a:rPr lang="en-US" sz="24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27%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8. What is the total medication cost vs. lab test cost ratio?</a:t>
            </a:r>
            <a:r>
              <a:rPr lang="en-US" sz="24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180:588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C0DFFE-C84F-1C1A-887C-DE5622F48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" y="1"/>
            <a:ext cx="12043409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 </a:t>
            </a:r>
            <a:br>
              <a:rPr lang="en-US" b="1" dirty="0"/>
            </a:br>
            <a:r>
              <a:rPr lang="en-US" sz="4000" b="1" dirty="0"/>
              <a:t>SECTION 2: CLINICAL OPERATIONS ANALYSIS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8968" y="2242870"/>
            <a:ext cx="114540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1. Which hospital has the highest number of admissions? 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City General -52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2. Which hospital has the longest average length of stay? 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Reginal Med-4 days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3. What is the distribution of admission types?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(Emergency-59 vs Elective-50 vs Urgent-42)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4. Which medical condition is most frequently admitted? 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Diabetes -34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5. What is the average length of stay by medical condition? 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3.6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6. Which hospital has the highest emergency admission rate? 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Reginal med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7. What percentage of patients had abnormal test results? 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44%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8. Which medical condition has the highest rate of abnormal test results? 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Diabetes, Heart Failure, Pneumonia:17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9. </a:t>
            </a:r>
            <a:r>
              <a:rPr lang="en-US" sz="2000" dirty="0" err="1">
                <a:effectLst/>
                <a:latin typeface="Comic Sans MS" panose="030F0702030302020204" pitchFamily="66" charset="0"/>
              </a:rPr>
              <a:t>Howmany</a:t>
            </a:r>
            <a:r>
              <a:rPr lang="en-US" sz="2000" dirty="0">
                <a:effectLst/>
                <a:latin typeface="Comic Sans MS" panose="030F0702030302020204" pitchFamily="66" charset="0"/>
              </a:rPr>
              <a:t> patients were admitted per hospital? 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City General: 54, Reginal Med:44, Metro Health:48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effectLst/>
                <a:latin typeface="Comic Sans MS" panose="030F0702030302020204" pitchFamily="66" charset="0"/>
              </a:rPr>
              <a:t>10. What is the bed turnover rate by hospital? (Admissions / Avg Days Spent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):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CG;17, MH:14, RM:12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F5A645-B798-9A05-E5E3-32AD908D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753228"/>
            <a:ext cx="10294182" cy="108093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Comic Sans MS" panose="030F0702030302020204" pitchFamily="66" charset="0"/>
              </a:rPr>
              <a:t> </a:t>
            </a:r>
            <a:r>
              <a:rPr lang="en-US" sz="4000" b="1" dirty="0">
                <a:solidFill>
                  <a:srgbClr val="00B0F0"/>
                </a:solidFill>
                <a:latin typeface="Comic Sans MS" panose="030F0702030302020204" pitchFamily="66" charset="0"/>
              </a:rPr>
              <a:t>3: FINANCIAL PERFORMANCE ANALYSIS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784" y="2160409"/>
            <a:ext cx="10597279" cy="4400811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3300" dirty="0">
                <a:effectLst/>
                <a:latin typeface="Comic Sans MS" panose="030F0702030302020204" pitchFamily="66" charset="0"/>
              </a:rPr>
              <a:t>1</a:t>
            </a:r>
            <a:r>
              <a:rPr lang="en-US" sz="4500" dirty="0">
                <a:effectLst/>
                <a:latin typeface="Comic Sans MS" panose="030F0702030302020204" pitchFamily="66" charset="0"/>
              </a:rPr>
              <a:t>. What is the total revenue by payment status? </a:t>
            </a:r>
            <a:r>
              <a:rPr lang="en-US" sz="45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(Paid;0.6M vs Pending:0.4M vs Denied:0.4M)</a:t>
            </a:r>
            <a:endParaRPr lang="en-US" sz="45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4500" dirty="0">
                <a:effectLst/>
                <a:latin typeface="Comic Sans MS" panose="030F0702030302020204" pitchFamily="66" charset="0"/>
              </a:rPr>
              <a:t>2. What is the average billing amount per medical condition?</a:t>
            </a:r>
            <a:r>
              <a:rPr lang="en-US" sz="45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S-24K,C-18K,HF-14K,AP-8K,D-4.5K,H-3.3K,AS-2.0K</a:t>
            </a:r>
            <a:endParaRPr lang="en-US" sz="45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sz="4500" dirty="0">
                <a:effectLst/>
                <a:latin typeface="Comic Sans MS" panose="030F0702030302020204" pitchFamily="66" charset="0"/>
              </a:rPr>
              <a:t>3. Which medical condition generates the highest revenue? </a:t>
            </a:r>
            <a:r>
              <a:rPr lang="en-US" sz="45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STROKE</a:t>
            </a:r>
            <a:endParaRPr lang="en-US" sz="4500" dirty="0"/>
          </a:p>
          <a:p>
            <a:pPr>
              <a:buNone/>
            </a:pPr>
            <a:r>
              <a:rPr lang="en-US" sz="4500" dirty="0">
                <a:effectLst/>
                <a:latin typeface="Comic Sans MS" panose="030F0702030302020204" pitchFamily="66" charset="0"/>
              </a:rPr>
              <a:t>4. What is the total outstanding amount? (Pending + Denied): </a:t>
            </a:r>
            <a:r>
              <a:rPr lang="en-US" sz="45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745,360</a:t>
            </a:r>
            <a:endParaRPr lang="en-US" sz="4500" dirty="0"/>
          </a:p>
          <a:p>
            <a:pPr>
              <a:buNone/>
            </a:pPr>
            <a:r>
              <a:rPr lang="en-US" sz="4500" dirty="0">
                <a:effectLst/>
                <a:latin typeface="Comic Sans MS" panose="030F0702030302020204" pitchFamily="66" charset="0"/>
              </a:rPr>
              <a:t>5. What is the revenue collection efficiency? (Paid Amount / Total Billing) </a:t>
            </a:r>
            <a:r>
              <a:rPr lang="en-US" sz="45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43.95%</a:t>
            </a:r>
            <a:endParaRPr lang="en-US" sz="4500" dirty="0"/>
          </a:p>
          <a:p>
            <a:pPr>
              <a:buNone/>
            </a:pPr>
            <a:r>
              <a:rPr lang="en-US" sz="4500" dirty="0">
                <a:effectLst/>
                <a:latin typeface="Comic Sans MS" panose="030F0702030302020204" pitchFamily="66" charset="0"/>
              </a:rPr>
              <a:t>6. Which procedure code has the highest average billing amount? </a:t>
            </a:r>
            <a:r>
              <a:rPr lang="en-US" sz="45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99225</a:t>
            </a:r>
            <a:endParaRPr lang="en-US" sz="4500" dirty="0"/>
          </a:p>
          <a:p>
            <a:pPr>
              <a:buNone/>
            </a:pPr>
            <a:r>
              <a:rPr lang="en-US" sz="4500" dirty="0">
                <a:effectLst/>
                <a:latin typeface="Comic Sans MS" panose="030F0702030302020204" pitchFamily="66" charset="0"/>
              </a:rPr>
              <a:t>7. What is the average billing amount by hospital?</a:t>
            </a:r>
            <a:r>
              <a:rPr lang="en-US" sz="45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CG-8259,MH-9046,RM-9173</a:t>
            </a:r>
            <a:endParaRPr lang="en-US" sz="4500" dirty="0"/>
          </a:p>
          <a:p>
            <a:pPr>
              <a:buNone/>
            </a:pPr>
            <a:r>
              <a:rPr lang="en-US" sz="4500" dirty="0">
                <a:effectLst/>
                <a:latin typeface="Comic Sans MS" panose="030F0702030302020204" pitchFamily="66" charset="0"/>
              </a:rPr>
              <a:t>8. Which hospital has the highest denial rate? </a:t>
            </a:r>
            <a:r>
              <a:rPr lang="en-US" sz="45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Regional med: 34%</a:t>
            </a:r>
            <a:endParaRPr lang="en-US" sz="4500" dirty="0"/>
          </a:p>
          <a:p>
            <a:pPr>
              <a:buNone/>
            </a:pPr>
            <a:r>
              <a:rPr lang="en-US" sz="4500" dirty="0">
                <a:effectLst/>
                <a:latin typeface="Comic Sans MS" panose="030F0702030302020204" pitchFamily="66" charset="0"/>
              </a:rPr>
              <a:t>9. What is the month-over-month revenue trend? </a:t>
            </a:r>
            <a:r>
              <a:rPr lang="en-US" sz="4500" b="1" dirty="0" err="1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moderate:Jan</a:t>
            </a:r>
            <a:r>
              <a:rPr lang="en-US" sz="45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sz="4500" b="1" dirty="0" err="1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peak:Feb</a:t>
            </a:r>
            <a:r>
              <a:rPr lang="en-US" sz="45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, Drops: March</a:t>
            </a:r>
            <a:endParaRPr lang="en-US" sz="4500" dirty="0"/>
          </a:p>
          <a:p>
            <a:pPr>
              <a:buNone/>
            </a:pPr>
            <a:r>
              <a:rPr lang="en-US" sz="4500" dirty="0">
                <a:effectLst/>
                <a:latin typeface="Comic Sans MS" panose="030F0702030302020204" pitchFamily="66" charset="0"/>
              </a:rPr>
              <a:t>10. What is the average revenue per doctor? </a:t>
            </a:r>
            <a:r>
              <a:rPr lang="en-US" sz="4500" b="1" dirty="0" err="1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Dr.Kim</a:t>
            </a:r>
            <a:endParaRPr lang="en-US" sz="45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CAFEC-5713-826A-D2CA-E77CF9C97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Comic Sans MS" panose="030F0702030302020204" pitchFamily="66" charset="0"/>
              </a:rPr>
              <a:t>4: INSURANCE/PAYER 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069432"/>
            <a:ext cx="10837911" cy="4475747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1. What is the patient distribution by insurance provider?</a:t>
            </a:r>
            <a:r>
              <a:rPr lang="en-US" sz="29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Medicare:28%,Medicaide; 25%,united Health:25%,Aetna :23%</a:t>
            </a:r>
            <a:endParaRPr lang="en-US" sz="2900" dirty="0"/>
          </a:p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2. Which insurance provider has the highest denial </a:t>
            </a:r>
            <a:r>
              <a:rPr lang="en-US" sz="2900" dirty="0" err="1">
                <a:effectLst/>
                <a:latin typeface="Comic Sans MS" panose="030F0702030302020204" pitchFamily="66" charset="0"/>
              </a:rPr>
              <a:t>rate?</a:t>
            </a:r>
            <a:r>
              <a:rPr lang="en-US" sz="2900" b="1" dirty="0" err="1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Aetna</a:t>
            </a:r>
            <a:r>
              <a:rPr lang="en-US" sz="29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: 11%</a:t>
            </a:r>
            <a:endParaRPr lang="en-US" sz="2900" dirty="0"/>
          </a:p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3. What is the average billing amount by insurance provider? </a:t>
            </a:r>
            <a:r>
              <a:rPr lang="en-US" sz="29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UH: 11,903, MCARE:8,748,AT:8682, MCAID:5893</a:t>
            </a:r>
            <a:endParaRPr lang="en-US" sz="2900" dirty="0"/>
          </a:p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4. Which insurance provider has the highest average out-of-pocket cost for patients? </a:t>
            </a:r>
            <a:r>
              <a:rPr lang="en-US" sz="29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UNITED HEALTH</a:t>
            </a:r>
            <a:endParaRPr lang="en-US" sz="2900" dirty="0"/>
          </a:p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5. What is the payment success rate by insurance provider? (% Paid)</a:t>
            </a:r>
            <a:r>
              <a:rPr lang="en-US" sz="29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MEDICARE:23%</a:t>
            </a:r>
            <a:endParaRPr lang="en-US" sz="2900" dirty="0"/>
          </a:p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6. Which insurance provider covers the most expensive conditions? </a:t>
            </a:r>
            <a:r>
              <a:rPr lang="en-US" sz="29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STROKE,MCARE,UN</a:t>
            </a:r>
            <a:endParaRPr lang="en-US" sz="2900" dirty="0"/>
          </a:p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7. What is the average patient financial burden by payer? (Out-of-Pocket / Total Bill): </a:t>
            </a:r>
            <a:r>
              <a:rPr lang="en-US" sz="29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12.61%</a:t>
            </a:r>
            <a:endParaRPr lang="en-US" sz="2900" dirty="0"/>
          </a:p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8. Which insurance has the highest pending payment rate? </a:t>
            </a:r>
            <a:r>
              <a:rPr lang="en-US" sz="29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United Health</a:t>
            </a:r>
            <a:endParaRPr lang="en-US" sz="2900" dirty="0"/>
          </a:p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9. Compare total revenue collected from Medicare vs Private insurers?</a:t>
            </a:r>
            <a:endParaRPr lang="en-US" sz="2900" dirty="0"/>
          </a:p>
          <a:p>
            <a:pPr>
              <a:buNone/>
            </a:pPr>
            <a:r>
              <a:rPr lang="en-US" sz="2900" dirty="0">
                <a:effectLst/>
                <a:latin typeface="Comic Sans MS" panose="030F0702030302020204" pitchFamily="66" charset="0"/>
              </a:rPr>
              <a:t>10. What is the average medication cost coverage by insurance type? </a:t>
            </a:r>
            <a:r>
              <a:rPr lang="en-US" sz="2900" b="1" dirty="0">
                <a:solidFill>
                  <a:srgbClr val="59A33A"/>
                </a:solidFill>
                <a:effectLst/>
                <a:latin typeface="Comic Sans MS" panose="030F0702030302020204" pitchFamily="66" charset="0"/>
              </a:rPr>
              <a:t>Aetna;1435, UH;1424, MCARE:1232, MCAID:692</a:t>
            </a:r>
            <a:endParaRPr lang="en-US" sz="29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5ACED4-4CA5-F70E-4A96-C6C9975A7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731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63" y="753228"/>
            <a:ext cx="10117719" cy="1080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F0"/>
                </a:solidFill>
                <a:latin typeface="Comic Sans MS" panose="030F0702030302020204" pitchFamily="66" charset="0"/>
              </a:rPr>
              <a:t> 5: PATIENT OUTCOMES &amp; QUALITY METRICS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1957136"/>
            <a:ext cx="11046458" cy="473242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sz="20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1. What is the correlation between test results and length of stay?</a:t>
            </a:r>
            <a:r>
              <a:rPr lang="en-US" sz="2000" b="1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Inconclusive:6, Abnormal:5, Normal:2: Those with normal results stay fewer days while those with abnormal results stay longer while those with inconclusive results stay longest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2. Do patients with abnormal test results have higher billing amounts?</a:t>
            </a:r>
            <a:r>
              <a:rPr lang="en-US" sz="2000" b="1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 NO : Inconclusive has the highest billing amount.IN;18.2k, ab;16.2K,N:3.7K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3. Which medical condition has the worst outcomes? (Abnormal results + Long stay) </a:t>
            </a:r>
            <a:r>
              <a:rPr lang="en-US" sz="2000" b="1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Cancer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4. What is the readmission risk indicator? (Patients with multiple admissions)</a:t>
            </a:r>
            <a:r>
              <a:rPr lang="en-US" sz="2000" b="1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 18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5. Which doctor has the highest rate of abnormal test results?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6. Is there a relationship between admission type and test outcomes?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7. What percentage of emergency admissions result in abnormal findings?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8. Which hospital has the best patient outcomes? (Normal results %)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9. What is the average cost for patients with abnormal vs normal results?</a:t>
            </a:r>
            <a:endParaRPr lang="en-US" sz="2000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10. Are elective admissions more cost-effective than emergency?</a:t>
            </a:r>
            <a:endParaRPr lang="en-US" sz="2000" dirty="0">
              <a:solidFill>
                <a:srgbClr val="00B0F0"/>
              </a:solidFill>
            </a:endParaRPr>
          </a:p>
          <a:p>
            <a:endParaRPr lang="en-US" sz="2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5: PATIENT OUTCOMES &amp; QUALITY METRICS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What is the correlation between test results and length of stay?</a:t>
            </a:r>
          </a:p>
          <a:p>
            <a:r>
              <a:rPr lang="en-US" dirty="0"/>
              <a:t>2. Do patients with abnormal test results have higher billing amounts?</a:t>
            </a:r>
          </a:p>
          <a:p>
            <a:r>
              <a:rPr lang="en-US" dirty="0"/>
              <a:t>3. Which medical condition has the worst outcomes? (Abnormal results + Long stay)</a:t>
            </a:r>
          </a:p>
          <a:p>
            <a:r>
              <a:rPr lang="en-US" dirty="0"/>
              <a:t>4. What is the readmission risk indicator? (Patients with multiple admissions)</a:t>
            </a:r>
          </a:p>
          <a:p>
            <a:r>
              <a:rPr lang="en-US" dirty="0"/>
              <a:t>5. Which doctor has the highest rate of abnormal test results?</a:t>
            </a:r>
          </a:p>
          <a:p>
            <a:r>
              <a:rPr lang="en-US" dirty="0"/>
              <a:t>6. Is there a relationship between admission type and test outcomes?</a:t>
            </a:r>
          </a:p>
          <a:p>
            <a:r>
              <a:rPr lang="en-US" dirty="0"/>
              <a:t>7. What percentage of emergency admissions result in abnormal findings?</a:t>
            </a:r>
          </a:p>
          <a:p>
            <a:r>
              <a:rPr lang="en-US" dirty="0"/>
              <a:t>8. Which hospital has the best patient outcomes? (Normal results %)</a:t>
            </a:r>
          </a:p>
          <a:p>
            <a:r>
              <a:rPr lang="en-US" dirty="0"/>
              <a:t>9. What is the average cost for patients with abnormal vs normal results?</a:t>
            </a:r>
          </a:p>
          <a:p>
            <a:r>
              <a:rPr lang="en-US" dirty="0"/>
              <a:t>10. Are elective admissions more cost-effective than emergency?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  <a:latin typeface="Comic Sans MS" panose="030F0702030302020204" pitchFamily="66" charset="0"/>
              </a:rPr>
              <a:t>SECTION 6: RESOURCE UTILIZATION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2400" b="1" dirty="0">
                <a:effectLst/>
                <a:latin typeface="Comic Sans MS" panose="030F0702030302020204" pitchFamily="66" charset="0"/>
              </a:rPr>
              <a:t> Questions to Answer: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1. Which doctor has treated the most patients?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2. What is the average number of patients per doctor?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3. Which doctor handles the most emergency cases?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4. What is the average revenue generated per doctor?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5. Which doctor has patients with the longest average stay?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6. What is the doctor workload distribution by hospital?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7. Which doctor treats the most complex cases? (High billing + Long stay)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8. What is the patient-to-doctor ratio by hospital?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9. Which doctor has the highest medication prescription rate?</a:t>
            </a:r>
            <a:endParaRPr lang="en-US" dirty="0"/>
          </a:p>
          <a:p>
            <a:pPr>
              <a:buNone/>
            </a:pPr>
            <a:r>
              <a:rPr lang="en-US" sz="2400" dirty="0">
                <a:effectLst/>
                <a:latin typeface="Comic Sans MS" panose="030F0702030302020204" pitchFamily="66" charset="0"/>
              </a:rPr>
              <a:t>10. Are certain doctors associated with specific insurance providers?</a:t>
            </a:r>
            <a:endParaRPr lang="en-US" dirty="0"/>
          </a:p>
          <a:p>
            <a:pPr>
              <a:buNone/>
            </a:pPr>
            <a:r>
              <a:rPr lang="en-US" sz="2400" b="1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Suggested Visuals: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 7: COST BREAKDOWN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085" y="2057400"/>
            <a:ext cx="9613900" cy="4704715"/>
          </a:xfrm>
        </p:spPr>
        <p:txBody>
          <a:bodyPr>
            <a:normAutofit fontScale="80000"/>
          </a:bodyPr>
          <a:lstStyle/>
          <a:p>
            <a:r>
              <a:rPr lang="en-US" altLang="en-US"/>
              <a:t> Questions to Answer:</a:t>
            </a:r>
          </a:p>
          <a:p>
            <a:r>
              <a:rPr lang="en-US" altLang="en-US"/>
              <a:t>1. What percentage of total billing is medication cost?</a:t>
            </a:r>
          </a:p>
          <a:p>
            <a:r>
              <a:rPr lang="en-US" altLang="en-US"/>
              <a:t>2. What percentage of total billing is lab test cost?</a:t>
            </a:r>
          </a:p>
          <a:p>
            <a:r>
              <a:rPr lang="en-US" altLang="en-US"/>
              <a:t>3. Which medical condition has the highest medication cost?</a:t>
            </a:r>
          </a:p>
          <a:p>
            <a:r>
              <a:rPr lang="en-US" altLang="en-US"/>
              <a:t>4. Which condition requires the most expensive lab tests?</a:t>
            </a:r>
          </a:p>
          <a:p>
            <a:r>
              <a:rPr lang="en-US" altLang="en-US"/>
              <a:t>5. What is the average out-of-pocket percentage by condition?</a:t>
            </a:r>
          </a:p>
          <a:p>
            <a:r>
              <a:rPr lang="en-US" altLang="en-US"/>
              <a:t>6. Do emergency admissions have higher lab test costs?</a:t>
            </a:r>
          </a:p>
          <a:p>
            <a:r>
              <a:rPr lang="en-US" altLang="en-US"/>
              <a:t>7. What is the cost composition by hospital? (Medication vs Lab vs Other)</a:t>
            </a:r>
          </a:p>
          <a:p>
            <a:r>
              <a:rPr lang="en-US" altLang="en-US"/>
              <a:t>8. Which procedure code has the highest medication-to-total cost ratio?</a:t>
            </a:r>
          </a:p>
          <a:p>
            <a:r>
              <a:rPr lang="en-US" altLang="en-US"/>
              <a:t>9. What is the relationship between days spent and lab test costs?</a:t>
            </a:r>
          </a:p>
          <a:p>
            <a:r>
              <a:rPr lang="en-US" altLang="en-US"/>
              <a:t>10. Which insurance provider patients have the highest out-of-pocket burden?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SECTION 8: TIME-BASED TRENDS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altLang="en-US"/>
              <a:t>1. What is the monthly admission trend?</a:t>
            </a:r>
          </a:p>
          <a:p>
            <a:r>
              <a:rPr lang="en-US" altLang="en-US"/>
              <a:t>2. Which month had the highest revenue?</a:t>
            </a:r>
          </a:p>
          <a:p>
            <a:r>
              <a:rPr lang="en-US" altLang="en-US"/>
              <a:t>3. Are there seasonal patterns in emergency admissions?</a:t>
            </a:r>
          </a:p>
          <a:p>
            <a:r>
              <a:rPr lang="en-US" altLang="en-US"/>
              <a:t>4. What is the week-over-week billing trend?</a:t>
            </a:r>
          </a:p>
          <a:p>
            <a:r>
              <a:rPr lang="en-US" altLang="en-US"/>
              <a:t>5. Which day of the week has the most admissions?</a:t>
            </a:r>
          </a:p>
          <a:p>
            <a:r>
              <a:rPr lang="en-US" altLang="en-US"/>
              <a:t>6. How does average length of stay vary by month?</a:t>
            </a:r>
          </a:p>
          <a:p>
            <a:r>
              <a:rPr lang="en-US" altLang="en-US"/>
              <a:t>7. What is the trend in denial rate over time?</a:t>
            </a:r>
          </a:p>
          <a:p>
            <a:r>
              <a:rPr lang="en-US" altLang="en-US"/>
              <a:t>8. Are medication costs increasing over time?</a:t>
            </a:r>
          </a:p>
          <a:p>
            <a:r>
              <a:rPr lang="en-US" altLang="en-US"/>
              <a:t>9. Which month had the highest patient out-of-pocket expenses?</a:t>
            </a:r>
          </a:p>
          <a:p>
            <a:r>
              <a:rPr lang="en-US" altLang="en-US"/>
              <a:t>10. What is the projected revenue for next quarter? (Based on trend)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9: ADVANCED ANALYTICS &amp; DAX CALCULATIONS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en-US" altLang="en-US"/>
              <a:t> Questions to Answer:</a:t>
            </a:r>
          </a:p>
          <a:p>
            <a:r>
              <a:rPr lang="en-US" altLang="en-US"/>
              <a:t>1. What is the cost per day by medical condition? (Total Cost / Days Spent)</a:t>
            </a:r>
          </a:p>
          <a:p>
            <a:r>
              <a:rPr lang="en-US" altLang="en-US"/>
              <a:t>2. Calculate the financial risk score per patient? (Out-of-Pocket / Income proxy)</a:t>
            </a:r>
          </a:p>
          <a:p>
            <a:r>
              <a:rPr lang="en-US" altLang="en-US"/>
              <a:t>3. What is the running total of revenue month-to-date?</a:t>
            </a:r>
          </a:p>
          <a:p>
            <a:r>
              <a:rPr lang="en-US" altLang="en-US"/>
              <a:t>4. Calculate year-over-year growth rate? (If historical data available)</a:t>
            </a:r>
          </a:p>
          <a:p>
            <a:r>
              <a:rPr lang="en-US" altLang="en-US"/>
              <a:t>5. What is the patient lifetime value estimate? (Based on condition complexity)</a:t>
            </a:r>
          </a:p>
          <a:p>
            <a:r>
              <a:rPr lang="en-US" altLang="en-US"/>
              <a:t>6. Create a cost efficiency score for each hospital? (Outcomes / Cost)</a:t>
            </a:r>
          </a:p>
          <a:p>
            <a:r>
              <a:rPr lang="en-US" altLang="en-US"/>
              <a:t>7. What is the rolling 7-day average of admissions?</a:t>
            </a:r>
          </a:p>
          <a:p>
            <a:r>
              <a:rPr lang="en-US" altLang="en-US"/>
              <a:t>8. Calculate the variance from average cost per condition?</a:t>
            </a:r>
          </a:p>
          <a:p>
            <a:r>
              <a:rPr lang="en-US" altLang="en-US"/>
              <a:t>9. What-if analysis: If denial rate decreases by 10%, what's the revenue impact?</a:t>
            </a:r>
          </a:p>
          <a:p>
            <a:r>
              <a:rPr lang="en-US" altLang="en-US"/>
              <a:t>10. Rank hospitals by overall performance? (Cost + Outcomes + Efficiency)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 10: COMPARATIVE &amp; DRILL-THROUGH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085" y="2336800"/>
            <a:ext cx="10896600" cy="359918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1. Compare City General vs Metro Health performance across all metrics?</a:t>
            </a:r>
          </a:p>
          <a:p>
            <a:r>
              <a:rPr lang="en-US" altLang="en-US"/>
              <a:t>2. Which doctor-hospital combination is most cost-effective?</a:t>
            </a:r>
          </a:p>
          <a:p>
            <a:r>
              <a:rPr lang="en-US" altLang="en-US"/>
              <a:t>3. Analyze the complete patient journey for high-cost cases?</a:t>
            </a:r>
          </a:p>
          <a:p>
            <a:r>
              <a:rPr lang="en-US" altLang="en-US"/>
              <a:t>4. What are the top 3 cost drivers for Cancer patients?</a:t>
            </a:r>
          </a:p>
          <a:p>
            <a:r>
              <a:rPr lang="en-US" altLang="en-US"/>
              <a:t>5. Compare Medicare vs Aetna patient outcomes and costs?</a:t>
            </a:r>
          </a:p>
          <a:p>
            <a:r>
              <a:rPr lang="en-US" altLang="en-US"/>
              <a:t>6. Which medication is most prescribed for Diabetes patients?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{CF888C86-0BF6-4C16-B008-F7569681DC89}TF6e1c0bd6-43b7-4cba-aa12-42a644606054c9b78bf9-d218b69a002d</Template>
  <TotalTime>7</TotalTime>
  <Words>1679</Words>
  <Application>Microsoft Office PowerPoint</Application>
  <PresentationFormat>Widescreen</PresentationFormat>
  <Paragraphs>127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Comic Sans MS</vt:lpstr>
      <vt:lpstr>Times New Roman</vt:lpstr>
      <vt:lpstr>Trebuchet MS</vt:lpstr>
      <vt:lpstr>Berlin</vt:lpstr>
      <vt:lpstr>HEALTHCARE ANALYTICS PROJECT Patient admission &amp; Billing datasets</vt:lpstr>
      <vt:lpstr> SECTION 1: EXECUTIVE SUMMARY &amp; KPIs </vt:lpstr>
      <vt:lpstr>PowerPoint Presentation</vt:lpstr>
      <vt:lpstr>  SECTION 2: CLINICAL OPERATIONS ANALYSIS  </vt:lpstr>
      <vt:lpstr>PowerPoint Presentation</vt:lpstr>
      <vt:lpstr> 3: FINANCIAL PERFORMANCE ANALYSIS</vt:lpstr>
      <vt:lpstr>PowerPoint Presentation</vt:lpstr>
      <vt:lpstr>4: INSURANCE/PAYER ANALYSIS</vt:lpstr>
      <vt:lpstr>PowerPoint Presentation</vt:lpstr>
      <vt:lpstr> 5: PATIENT OUTCOMES &amp; QUALITY METRICS </vt:lpstr>
      <vt:lpstr>PowerPoint Presentation</vt:lpstr>
      <vt:lpstr>5: PATIENT OUTCOMES &amp; QUALITY METRICS </vt:lpstr>
      <vt:lpstr>PowerPoint Presentation</vt:lpstr>
      <vt:lpstr>SECTION 6: RESOURCE UTILIZATION </vt:lpstr>
      <vt:lpstr>PowerPoint Presentation</vt:lpstr>
      <vt:lpstr> 7: COST BREAKDOWN ANALYSIS</vt:lpstr>
      <vt:lpstr>PowerPoint Presentation</vt:lpstr>
      <vt:lpstr>SECTION 8: TIME-BASED TRENDS</vt:lpstr>
      <vt:lpstr>PowerPoint Presentation</vt:lpstr>
      <vt:lpstr>9: ADVANCED ANALYTICS &amp; DAX CALCULATIONS</vt:lpstr>
      <vt:lpstr>PowerPoint Presentation</vt:lpstr>
      <vt:lpstr> 10: COMPARATIVE &amp; DRILL-THROUGH ANALYSIS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AlchymedSolutions Leren</dc:creator>
  <cp:lastModifiedBy>AlchymedSolutions Leren</cp:lastModifiedBy>
  <cp:revision>8</cp:revision>
  <dcterms:created xsi:type="dcterms:W3CDTF">2026-05-25T22:42:00Z</dcterms:created>
  <dcterms:modified xsi:type="dcterms:W3CDTF">2026-05-25T23:48:41Z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3F219E98BA5C41698ED7E8DF77EED334_12</vt:lpwstr>
  </property>
</Properties>
</file>